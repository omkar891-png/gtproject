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external examiner, internal guide, and panel members. Today, I present our project titled 'Sudarshan: Zero-Data Offline Multiplayer Gaming Suite'. This project addresses a fundamental limitation in modern multiplayer gaming: dependency on active internet connections and centralized cloud servers. We have engineered an ultra-low latency, decentralized local network gaming platform that operates entirely without cellular data, combining a WebSocket ad-hoc host server, custom canvas physics engines, heuristic AI bots, and an Expo Go React Native mobile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outlines the problem statement. When multiple friends want to play games together in the same room—such as a hostel, cafeteria, or train journey—traditional multiplayer games force all traffic out to a remote cloud server and back. This wastes cellular data, introduces 100ms latency, and drains batteries. Sudarshan bypasses the cloud completely by establishing an ad-hoc local mesh using existing Wi-Fi or mobile hotspots, bringing network latency down from 150ms to under 4ms with zero data usage.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system architecture divided into three tiers: Tier 1 is the Edge Host Layer. When a host clicks 'Start', Node.js binds to the network interface card. It generates a QR code encoding the local IP address and port. Tier 2 is the Transport Layer. We chose persistent WebSockets over HTTP REST or WebRTC. WebRTC requires external STUN/TURN servers on the public internet for ICE candidate discovery, which fails completely offline. WebSockets over LAN operate purely on local IP routing. Tier 3 is the Client Layer, running directly on mobile browsers or within our Expo Go Android wrapper.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Rather than building a simple proof-of-concept with one game, we implemented a full 9-game suite spanning multiple complex game engineering genres: Turn-based strategy like Cyber Chess and Connect 4; classic board mechanics like Ludo and Carrom King; and high-intensity real-time 60 FPS combat like Mini Militia 2D and Slither Battle Royale. This proves our network architecture can handle diverse throughput demands, from lightweight turn events to rapid 50ms real-time coordinate streaming.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highlights our physics engine in Carrom King Royale. In naive canvas games, high-speed objects suffer from 'tunneling'—passing straight through borders or other coins between frames. We solved this by implementing a 300 FPS sub-stepped numerical integration pipeline. Each 60 FPS render cycle runs 5 discrete sub-steps with dt = 1/300 of a second. We implemented realistic restitution tensors, exponential friction decay, and radial pocket suction. Furthermore, the bot doesn't make unnatural instant calculations; it runs through a humanized multi-stage pacing cycle with aim lines and realistic charging.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artificial intelligence algorithms powering offline play. For Cyber Chess and Connect 4, we built deterministic Minimax decision trees enhanced with Alpha-Beta pruning to explore optimal moves within 50ms without blocking the UI thread. For Chain Reaction, we use a Breadth-First Search (BFS) cascade algorithm to simulate atomic explosions. These bots guarantee that even when a student plays completely offline without any other players, the experience is competitive and intelligent.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mobile frontend, we built an Expo Go / React Native architecture. A common issue in mobile web wrappers is accidental navigation when hitting the Android hardware back button. We engineered a custom hook, useHardwareBack, that intercepts hardware back presses to step down from match to lobby, and lobby to home. Furthermore, our build pipeline compiles all 9 vector SVG artworks and game engines into a standalone 614 KB bundle. This allows the APK or Expo Go app to boot completely offline inside an airplane or subway without needing an external HTTP server.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empirical benchmarks. We tested three environments: standard cloud gaming, a local college Wi-Fi router, and a portable Android mobile hotspot. As shown in the table, round-trip ping dropped from 85–260ms in cloud setups down to 3.4ms over a simple phone hotspot. Cellular data consumed was exactly 0.00 KB. Because the cellular modem is not constantly transmitting packets to cell towers, devices exhibited a 38% reduction in battery drain during testing.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documents real engineering challenges we encountered and solved. First, without internet, clients cannot use DNS names. We solved discovery by reading the network adapter's primary IPv4 address and embedding the URL into dynamic QR codes. Second, we solved physics tunneling in Carrom King by implementing 300 FPS sub-stepping. Third, we resolved an Android WebView XML parsing crash where 4-byte unicode emojis in SVG data URIs were breaking the XML parser by converting all artwork into native geometric vector SVG paths.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Sudarshan demonstrates that multiplayer gaming does not require recurring cloud server costs or cellular data. By utilizing ad-hoc local network topologies, deterministic physics, and modular mobile architecture, we achieve esports-level sub-5ms latency with zero data consumption. Future enhancements include Wi-Fi Direct mesh discovery and local voice chat. Thank you respected examiners. We are now open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362895" cy="4114800"/>
          </a:xfrm>
          <a:prstGeom prst="rect">
            <a:avLst/>
          </a:prstGeom>
          <a:noFill/>
        </p:spPr>
        <p:txBody>
          <a:bodyPr wrap="square">
            <a:spAutoFit/>
          </a:bodyPr>
          <a:lstStyle/>
          <a:p>
            <a:pPr>
              <a:spcAft>
                <a:spcPts val="1400"/>
              </a:spcAft>
              <a:defRPr sz="1300" b="1">
                <a:solidFill>
                  <a:srgbClr val="0EA5E9"/>
                </a:solidFill>
              </a:defRPr>
            </a:pPr>
            <a:r>
              <a:t>FINAL YEAR MAJOR PROJECT PRESENTATION</a:t>
            </a:r>
          </a:p>
          <a:p>
            <a:pPr>
              <a:spcAft>
                <a:spcPts val="800"/>
              </a:spcAft>
              <a:defRPr sz="3200" b="1">
                <a:solidFill>
                  <a:srgbClr val="FFFFFF"/>
                </a:solidFill>
              </a:defRPr>
            </a:pPr>
            <a:r>
              <a:t>SUDARSHAN: ZERO-DATA OFFLINE MULTIPLAYER GAMING SUITE</a:t>
            </a:r>
          </a:p>
          <a:p>
            <a:pPr>
              <a:spcAft>
                <a:spcPts val="3600"/>
              </a:spcAft>
              <a:defRPr sz="1600">
                <a:solidFill>
                  <a:srgbClr val="F59E0B"/>
                </a:solidFill>
              </a:defRPr>
            </a:pPr>
            <a:r>
              <a:t>High-Performance Peer-to-Peer LAN Gaming Architecture with Deterministic Physics &amp; Hybrid Cross-Platform Mobile Deployment</a:t>
            </a:r>
          </a:p>
          <a:p>
            <a:pPr>
              <a:spcAft>
                <a:spcPts val="600"/>
              </a:spcAft>
              <a:defRPr sz="1300">
                <a:solidFill>
                  <a:srgbClr val="B4C3D7"/>
                </a:solidFill>
              </a:defRPr>
            </a:pPr>
            <a:r>
              <a:t>Domain: Computer Networks, Distributed Systems &amp; Mobile Web Applications</a:t>
            </a:r>
          </a:p>
          <a:p>
            <a:pPr>
              <a:defRPr sz="1300">
                <a:solidFill>
                  <a:srgbClr val="10B981"/>
                </a:solidFill>
              </a:defRPr>
            </a:pPr>
            <a:r>
              <a:t>Evaluation: Final Examination / Viva Voce Review Committee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0EA5E9"/>
                </a:solidFill>
              </a:defRPr>
            </a:pPr>
            <a:r>
              <a:t>1. INTRODUCTION &amp; MOTIVATION</a:t>
            </a:r>
          </a:p>
          <a:p>
            <a:pPr>
              <a:spcAft>
                <a:spcPts val="300"/>
              </a:spcAft>
              <a:defRPr sz="2400" b="1">
                <a:solidFill>
                  <a:srgbClr val="FFFFFF"/>
                </a:solidFill>
              </a:defRPr>
            </a:pPr>
            <a:r>
              <a:t>The Problem with Modern Multiplayer Systems</a:t>
            </a:r>
          </a:p>
          <a:p>
            <a:pPr>
              <a:defRPr sz="1200">
                <a:solidFill>
                  <a:srgbClr val="B4C3D7"/>
                </a:solidFill>
              </a:defRPr>
            </a:pPr>
            <a:r>
              <a:t>Why centralized cloud gaming fails in offline, edge, and shared environments</a:t>
            </a:r>
          </a:p>
        </p:txBody>
      </p:sp>
      <p:sp>
        <p:nvSpPr>
          <p:cNvPr id="4" name="Rounded Rectangle 3"/>
          <p:cNvSpPr/>
          <p:nvPr/>
        </p:nvSpPr>
        <p:spPr>
          <a:xfrm>
            <a:off x="731520" y="1645920"/>
            <a:ext cx="5120640" cy="45720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defRPr sz="1600" b="1">
                <a:solidFill>
                  <a:srgbClr val="0EA5E9"/>
                </a:solidFill>
              </a:defRPr>
            </a:pPr>
            <a:r>
              <a:t>Current Industry Challenges</a:t>
            </a:r>
          </a:p>
          <a:p>
            <a:pPr>
              <a:spcAft>
                <a:spcPts val="800"/>
              </a:spcAft>
            </a:pPr>
            <a:r>
              <a:rPr b="1" sz="1200">
                <a:solidFill>
                  <a:srgbClr val="F59E0B"/>
                </a:solidFill>
              </a:rPr>
              <a:t>Cloud Dependency: </a:t>
            </a:r>
            <a:r>
              <a:rPr sz="1200">
                <a:solidFill>
                  <a:srgbClr val="FFFFFF"/>
                </a:solidFill>
              </a:rPr>
              <a:t>99% of contemporary multiplayer titles require always-on 4G/5G/Broadband, failing instantly in rural zones, transit, flights, or campus dead zones.</a:t>
            </a:r>
          </a:p>
          <a:p>
            <a:pPr>
              <a:spcAft>
                <a:spcPts val="800"/>
              </a:spcAft>
            </a:pPr>
            <a:r>
              <a:rPr b="1" sz="1200">
                <a:solidFill>
                  <a:srgbClr val="F59E0B"/>
                </a:solidFill>
              </a:rPr>
              <a:t>High Latency &amp; Jitter: </a:t>
            </a:r>
            <a:r>
              <a:rPr sz="1200">
                <a:solidFill>
                  <a:srgbClr val="FFFFFF"/>
                </a:solidFill>
              </a:rPr>
              <a:t>Cloud servers enforce 60ms to 250ms round-trip times (RTT), causing noticeable rubber-banding, frame interpolation glitches, and desynchronization.</a:t>
            </a:r>
          </a:p>
          <a:p>
            <a:pPr>
              <a:spcAft>
                <a:spcPts val="800"/>
              </a:spcAft>
            </a:pPr>
            <a:r>
              <a:rPr b="1" sz="1200">
                <a:solidFill>
                  <a:srgbClr val="F59E0B"/>
                </a:solidFill>
              </a:rPr>
              <a:t>Data Drain &amp; Battery Load: </a:t>
            </a:r>
            <a:r>
              <a:rPr sz="1200">
                <a:solidFill>
                  <a:srgbClr val="FFFFFF"/>
                </a:solidFill>
              </a:rPr>
              <a:t>Continuous background telemetry, cloud handshakes, and asset streaming consume 50-150 MB/hour of expensive mobile cellular bandwidth.</a:t>
            </a:r>
          </a:p>
          <a:p>
            <a:pPr>
              <a:spcAft>
                <a:spcPts val="800"/>
              </a:spcAft>
            </a:pPr>
            <a:r>
              <a:rPr b="1" sz="1200">
                <a:solidFill>
                  <a:srgbClr val="F59E0B"/>
                </a:solidFill>
              </a:rPr>
              <a:t>Infrastructure Cost: </a:t>
            </a:r>
            <a:r>
              <a:rPr sz="1200">
                <a:solidFill>
                  <a:srgbClr val="FFFFFF"/>
                </a:solidFill>
              </a:rPr>
              <a:t>Maintaining dedicated cloud game server instances (AWS Gamelift / Photon) incurs recurring monthly operational expenditure for game studios.</a:t>
            </a:r>
          </a:p>
        </p:txBody>
      </p:sp>
      <p:sp>
        <p:nvSpPr>
          <p:cNvPr id="5" name="Rounded Rectangle 4"/>
          <p:cNvSpPr/>
          <p:nvPr/>
        </p:nvSpPr>
        <p:spPr>
          <a:xfrm>
            <a:off x="6309360" y="1645920"/>
            <a:ext cx="5120640" cy="45720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defRPr sz="1600" b="1">
                <a:solidFill>
                  <a:srgbClr val="0EA5E9"/>
                </a:solidFill>
              </a:defRPr>
            </a:pPr>
            <a:r>
              <a:t>The Sudarshan Solution</a:t>
            </a:r>
          </a:p>
          <a:p>
            <a:pPr>
              <a:spcAft>
                <a:spcPts val="800"/>
              </a:spcAft>
            </a:pPr>
            <a:r>
              <a:rPr b="1" sz="1200">
                <a:solidFill>
                  <a:srgbClr val="F59E0B"/>
                </a:solidFill>
              </a:rPr>
              <a:t>Zero Mobile Data: </a:t>
            </a:r>
            <a:r>
              <a:rPr sz="1200">
                <a:solidFill>
                  <a:srgbClr val="FFFFFF"/>
                </a:solidFill>
              </a:rPr>
              <a:t>Operates 100% offline using standard IEEE 802.11 Wi-Fi or portable phone hotspots. Zero bytes sent to the public internet.</a:t>
            </a:r>
          </a:p>
          <a:p>
            <a:pPr>
              <a:spcAft>
                <a:spcPts val="800"/>
              </a:spcAft>
            </a:pPr>
            <a:r>
              <a:rPr b="1" sz="1200">
                <a:solidFill>
                  <a:srgbClr val="F59E0B"/>
                </a:solidFill>
              </a:rPr>
              <a:t>Sub-5ms Latency: </a:t>
            </a:r>
            <a:r>
              <a:rPr sz="1200">
                <a:solidFill>
                  <a:srgbClr val="FFFFFF"/>
                </a:solidFill>
              </a:rPr>
              <a:t>Local direct LAN sockets deliver ping under 4ms, providing esports-grade responsiveness for real-time physics and combat.</a:t>
            </a:r>
          </a:p>
          <a:p>
            <a:pPr>
              <a:spcAft>
                <a:spcPts val="800"/>
              </a:spcAft>
            </a:pPr>
            <a:r>
              <a:rPr b="1" sz="1200">
                <a:solidFill>
                  <a:srgbClr val="F59E0B"/>
                </a:solidFill>
              </a:rPr>
              <a:t>Zero Cloud Infrastructure: </a:t>
            </a:r>
            <a:r>
              <a:rPr sz="1200">
                <a:solidFill>
                  <a:srgbClr val="FFFFFF"/>
                </a:solidFill>
              </a:rPr>
              <a:t>The host device dynamically acts as the authoritative edge server; any laptop or phone can spin up game rooms instantly.</a:t>
            </a:r>
          </a:p>
          <a:p>
            <a:pPr>
              <a:spcAft>
                <a:spcPts val="800"/>
              </a:spcAft>
            </a:pPr>
            <a:r>
              <a:rPr b="1" sz="1200">
                <a:solidFill>
                  <a:srgbClr val="F59E0B"/>
                </a:solidFill>
              </a:rPr>
              <a:t>Dual-Mode Deployment: </a:t>
            </a:r>
            <a:r>
              <a:rPr sz="1200">
                <a:solidFill>
                  <a:srgbClr val="FFFFFF"/>
                </a:solidFill>
              </a:rPr>
              <a:t>Seamlessly toggles between local LAN peer-to-peer multiplayer and an embedded standalone offline bundle with AI bots.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0EA5E9"/>
                </a:solidFill>
              </a:defRPr>
            </a:pPr>
            <a:r>
              <a:t>2. SYSTEM ARCHITECTURE</a:t>
            </a:r>
          </a:p>
          <a:p>
            <a:pPr>
              <a:spcAft>
                <a:spcPts val="300"/>
              </a:spcAft>
              <a:defRPr sz="2400" b="1">
                <a:solidFill>
                  <a:srgbClr val="FFFFFF"/>
                </a:solidFill>
              </a:defRPr>
            </a:pPr>
            <a:r>
              <a:t>End-to-End Ad-Hoc Network Topology</a:t>
            </a:r>
          </a:p>
          <a:p>
            <a:pPr>
              <a:defRPr sz="1200">
                <a:solidFill>
                  <a:srgbClr val="B4C3D7"/>
                </a:solidFill>
              </a:defRPr>
            </a:pPr>
            <a:r>
              <a:t>Edge-hosted WebSocket protocol with zero-configuration client discovery</a:t>
            </a:r>
          </a:p>
        </p:txBody>
      </p:sp>
      <p:sp>
        <p:nvSpPr>
          <p:cNvPr id="4" name="Rounded Rectangle 3"/>
          <p:cNvSpPr/>
          <p:nvPr/>
        </p:nvSpPr>
        <p:spPr>
          <a:xfrm>
            <a:off x="731520" y="1645920"/>
            <a:ext cx="3291840" cy="45720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defRPr sz="1600" b="1">
                <a:solidFill>
                  <a:srgbClr val="0EA5E9"/>
                </a:solidFill>
              </a:defRPr>
            </a:pPr>
            <a:r>
              <a:t>1. Edge Host Layer</a:t>
            </a:r>
          </a:p>
          <a:p>
            <a:pPr>
              <a:spcAft>
                <a:spcPts val="800"/>
              </a:spcAft>
            </a:pPr>
            <a:r>
              <a:rPr b="1" sz="1200">
                <a:solidFill>
                  <a:srgbClr val="F59E0B"/>
                </a:solidFill>
              </a:rPr>
              <a:t>Lightweight Server: </a:t>
            </a:r>
            <a:r>
              <a:rPr sz="1200">
                <a:solidFill>
                  <a:srgbClr val="FFFFFF"/>
                </a:solidFill>
              </a:rPr>
              <a:t>Built on Node.js with native HTTP &amp; WebSocket protocol (RFC 6455).</a:t>
            </a:r>
          </a:p>
          <a:p>
            <a:pPr>
              <a:spcAft>
                <a:spcPts val="800"/>
              </a:spcAft>
            </a:pPr>
            <a:r>
              <a:rPr b="1" sz="1200">
                <a:solidFill>
                  <a:srgbClr val="F59E0B"/>
                </a:solidFill>
              </a:rPr>
              <a:t>Dual Interface Binding: </a:t>
            </a:r>
            <a:r>
              <a:rPr sz="1200">
                <a:solidFill>
                  <a:srgbClr val="FFFFFF"/>
                </a:solidFill>
              </a:rPr>
              <a:t>Binds simultaneously to localhost (127.0.0.1) and active network NIC (192.168.x.x).</a:t>
            </a:r>
          </a:p>
          <a:p>
            <a:pPr>
              <a:spcAft>
                <a:spcPts val="800"/>
              </a:spcAft>
            </a:pPr>
            <a:r>
              <a:rPr b="1" sz="1200">
                <a:solidFill>
                  <a:srgbClr val="F59E0B"/>
                </a:solidFill>
              </a:rPr>
              <a:t>Room State Authority: </a:t>
            </a:r>
            <a:r>
              <a:rPr sz="1200">
                <a:solidFill>
                  <a:srgbClr val="FFFFFF"/>
                </a:solidFill>
              </a:rPr>
              <a:t>Authoritative state machine maintaining game rooms, turn clocks, and player pools.</a:t>
            </a:r>
          </a:p>
          <a:p>
            <a:pPr>
              <a:spcAft>
                <a:spcPts val="800"/>
              </a:spcAft>
            </a:pPr>
            <a:r>
              <a:rPr b="1" sz="1200">
                <a:solidFill>
                  <a:srgbClr val="F59E0B"/>
                </a:solidFill>
              </a:rPr>
              <a:t>Dynamic QR Generation: </a:t>
            </a:r>
            <a:r>
              <a:rPr sz="1200">
                <a:solidFill>
                  <a:srgbClr val="FFFFFF"/>
                </a:solidFill>
              </a:rPr>
              <a:t>Encodes direct host IP, port, and 4-letter room code into vector QR codes for 1-second camera join.</a:t>
            </a:r>
          </a:p>
        </p:txBody>
      </p:sp>
      <p:sp>
        <p:nvSpPr>
          <p:cNvPr id="5" name="Rounded Rectangle 4"/>
          <p:cNvSpPr/>
          <p:nvPr/>
        </p:nvSpPr>
        <p:spPr>
          <a:xfrm>
            <a:off x="4389120" y="1645920"/>
            <a:ext cx="3291840" cy="45720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defRPr sz="1600" b="1">
                <a:solidFill>
                  <a:srgbClr val="0EA5E9"/>
                </a:solidFill>
              </a:defRPr>
            </a:pPr>
            <a:r>
              <a:t>2. Transport &amp; Protocol Layer</a:t>
            </a:r>
          </a:p>
          <a:p>
            <a:pPr>
              <a:spcAft>
                <a:spcPts val="800"/>
              </a:spcAft>
            </a:pPr>
            <a:r>
              <a:rPr b="1" sz="1200">
                <a:solidFill>
                  <a:srgbClr val="F59E0B"/>
                </a:solidFill>
              </a:rPr>
              <a:t>Full-Duplex Sockets: </a:t>
            </a:r>
            <a:r>
              <a:rPr sz="1200">
                <a:solidFill>
                  <a:srgbClr val="FFFFFF"/>
                </a:solidFill>
              </a:rPr>
              <a:t>Persistent bi-directional TCP sockets delivering sub-5ms round-trip synchronization.</a:t>
            </a:r>
          </a:p>
          <a:p>
            <a:pPr>
              <a:spcAft>
                <a:spcPts val="800"/>
              </a:spcAft>
            </a:pPr>
            <a:r>
              <a:rPr b="1" sz="1200">
                <a:solidFill>
                  <a:srgbClr val="F59E0B"/>
                </a:solidFill>
              </a:rPr>
              <a:t>Delta Compression: </a:t>
            </a:r>
            <a:r>
              <a:rPr sz="1200">
                <a:solidFill>
                  <a:srgbClr val="FFFFFF"/>
                </a:solidFill>
              </a:rPr>
              <a:t>Transmits compact JSON state deltas rather than whole frames, minimizing NIC buffer load.</a:t>
            </a:r>
          </a:p>
          <a:p>
            <a:pPr>
              <a:spcAft>
                <a:spcPts val="800"/>
              </a:spcAft>
            </a:pPr>
            <a:r>
              <a:rPr b="1" sz="1200">
                <a:solidFill>
                  <a:srgbClr val="F59E0B"/>
                </a:solidFill>
              </a:rPr>
              <a:t>Heartbeat Liveness: </a:t>
            </a:r>
            <a:r>
              <a:rPr sz="1200">
                <a:solidFill>
                  <a:srgbClr val="FFFFFF"/>
                </a:solidFill>
              </a:rPr>
              <a:t>Automatic 15-second ping-pong keep-alive prevents socket timeouts on aggressive mobile OS.</a:t>
            </a:r>
          </a:p>
          <a:p>
            <a:pPr>
              <a:spcAft>
                <a:spcPts val="800"/>
              </a:spcAft>
            </a:pPr>
            <a:r>
              <a:rPr b="1" sz="1200">
                <a:solidFill>
                  <a:srgbClr val="F59E0B"/>
                </a:solidFill>
              </a:rPr>
              <a:t>Auto Reconnection: </a:t>
            </a:r>
            <a:r>
              <a:rPr sz="1200">
                <a:solidFill>
                  <a:srgbClr val="FFFFFF"/>
                </a:solidFill>
              </a:rPr>
              <a:t>Self-healing state recovery if a phone switches Wi-Fi or screens off temporarily.</a:t>
            </a:r>
          </a:p>
        </p:txBody>
      </p:sp>
      <p:sp>
        <p:nvSpPr>
          <p:cNvPr id="6" name="Rounded Rectangle 5"/>
          <p:cNvSpPr/>
          <p:nvPr/>
        </p:nvSpPr>
        <p:spPr>
          <a:xfrm>
            <a:off x="8046720" y="1645920"/>
            <a:ext cx="3291840" cy="45720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defRPr sz="1600" b="1">
                <a:solidFill>
                  <a:srgbClr val="0EA5E9"/>
                </a:solidFill>
              </a:defRPr>
            </a:pPr>
            <a:r>
              <a:t>3. Client Presentation Layer</a:t>
            </a:r>
          </a:p>
          <a:p>
            <a:pPr>
              <a:spcAft>
                <a:spcPts val="800"/>
              </a:spcAft>
            </a:pPr>
            <a:r>
              <a:rPr b="1" sz="1200">
                <a:solidFill>
                  <a:srgbClr val="F59E0B"/>
                </a:solidFill>
              </a:rPr>
              <a:t>Universal Web Client: </a:t>
            </a:r>
            <a:r>
              <a:rPr sz="1200">
                <a:solidFill>
                  <a:srgbClr val="FFFFFF"/>
                </a:solidFill>
              </a:rPr>
              <a:t>Vanilla HTML5, High-DPI Canvas, and ES6 modular classes running on any browser.</a:t>
            </a:r>
          </a:p>
          <a:p>
            <a:pPr>
              <a:spcAft>
                <a:spcPts val="800"/>
              </a:spcAft>
            </a:pPr>
            <a:r>
              <a:rPr b="1" sz="1200">
                <a:solidFill>
                  <a:srgbClr val="F59E0B"/>
                </a:solidFill>
              </a:rPr>
              <a:t>React Native App: </a:t>
            </a:r>
            <a:r>
              <a:rPr sz="1200">
                <a:solidFill>
                  <a:srgbClr val="FFFFFF"/>
                </a:solidFill>
              </a:rPr>
              <a:t>Expo Go hybrid wrapper utilizing native WebView, orientation locks, and back handlers.</a:t>
            </a:r>
          </a:p>
          <a:p>
            <a:pPr>
              <a:spcAft>
                <a:spcPts val="800"/>
              </a:spcAft>
            </a:pPr>
            <a:r>
              <a:rPr b="1" sz="1200">
                <a:solidFill>
                  <a:srgbClr val="F59E0B"/>
                </a:solidFill>
              </a:rPr>
              <a:t>Standalone Fallback: </a:t>
            </a:r>
            <a:r>
              <a:rPr sz="1200">
                <a:solidFill>
                  <a:srgbClr val="FFFFFF"/>
                </a:solidFill>
              </a:rPr>
              <a:t>Includes a 614 KB self-contained inlined bundle with vector assets for 100% offline solo play.</a:t>
            </a:r>
          </a:p>
          <a:p>
            <a:pPr>
              <a:spcAft>
                <a:spcPts val="800"/>
              </a:spcAft>
            </a:pPr>
            <a:r>
              <a:rPr b="1" sz="1200">
                <a:solidFill>
                  <a:srgbClr val="F59E0B"/>
                </a:solidFill>
              </a:rPr>
              <a:t>Sound Synthesis: </a:t>
            </a:r>
            <a:r>
              <a:rPr sz="1200">
                <a:solidFill>
                  <a:srgbClr val="FFFFFF"/>
                </a:solidFill>
              </a:rPr>
              <a:t>Synthesized Web Audio API sound effects eliminating external MP3 audio asset downloads.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0EA5E9"/>
                </a:solidFill>
              </a:defRPr>
            </a:pPr>
            <a:r>
              <a:t>3. FUNCTIONAL CAPABILITIES</a:t>
            </a:r>
          </a:p>
          <a:p>
            <a:pPr>
              <a:spcAft>
                <a:spcPts val="300"/>
              </a:spcAft>
              <a:defRPr sz="2400" b="1">
                <a:solidFill>
                  <a:srgbClr val="FFFFFF"/>
                </a:solidFill>
              </a:defRPr>
            </a:pPr>
            <a:r>
              <a:t>Multi-Genre 9-Game Arena Suite</a:t>
            </a:r>
          </a:p>
          <a:p>
            <a:pPr>
              <a:defRPr sz="1200">
                <a:solidFill>
                  <a:srgbClr val="B4C3D7"/>
                </a:solidFill>
              </a:defRPr>
            </a:pPr>
            <a:r>
              <a:t>Tactical, casual, turn-based, and real-time physics titles engineered from scratch</a:t>
            </a:r>
          </a:p>
        </p:txBody>
      </p:sp>
      <p:sp>
        <p:nvSpPr>
          <p:cNvPr id="4" name="Rounded Rectangle 3"/>
          <p:cNvSpPr/>
          <p:nvPr/>
        </p:nvSpPr>
        <p:spPr>
          <a:xfrm>
            <a:off x="731520" y="1645920"/>
            <a:ext cx="3291840" cy="45720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defRPr sz="1600" b="1">
                <a:solidFill>
                  <a:srgbClr val="0EA5E9"/>
                </a:solidFill>
              </a:defRPr>
            </a:pPr>
            <a:r>
              <a:t>Turn-Based Strategy</a:t>
            </a:r>
          </a:p>
          <a:p>
            <a:pPr>
              <a:spcAft>
                <a:spcPts val="800"/>
              </a:spcAft>
            </a:pPr>
            <a:r>
              <a:rPr b="1" sz="1200">
                <a:solidFill>
                  <a:srgbClr val="F59E0B"/>
                </a:solidFill>
              </a:rPr>
              <a:t>Cyber Chess: </a:t>
            </a:r>
            <a:r>
              <a:rPr sz="1200">
                <a:solidFill>
                  <a:srgbClr val="FFFFFF"/>
                </a:solidFill>
              </a:rPr>
              <a:t>Full FIDE rules, legal move validation, blitz timers, captured tray balance &amp; Minimax AI.</a:t>
            </a:r>
          </a:p>
          <a:p>
            <a:pPr>
              <a:spcAft>
                <a:spcPts val="800"/>
              </a:spcAft>
            </a:pPr>
            <a:r>
              <a:rPr b="1" sz="1200">
                <a:solidFill>
                  <a:srgbClr val="F59E0B"/>
                </a:solidFill>
              </a:rPr>
              <a:t>Connect 4 Galaxy: </a:t>
            </a:r>
            <a:r>
              <a:rPr sz="1200">
                <a:solidFill>
                  <a:srgbClr val="FFFFFF"/>
                </a:solidFill>
              </a:rPr>
              <a:t>7x6 holographic grid, gravity bounce animation, 4-in-a-row raycaster &amp; AI evaluation.</a:t>
            </a:r>
          </a:p>
          <a:p>
            <a:pPr>
              <a:spcAft>
                <a:spcPts val="800"/>
              </a:spcAft>
            </a:pPr>
            <a:r>
              <a:rPr b="1" sz="1200">
                <a:solidFill>
                  <a:srgbClr val="F59E0B"/>
                </a:solidFill>
              </a:rPr>
              <a:t>Chain Reaction HD: </a:t>
            </a:r>
            <a:r>
              <a:rPr sz="1200">
                <a:solidFill>
                  <a:srgbClr val="FFFFFF"/>
                </a:solidFill>
              </a:rPr>
              <a:t>Atomic mass cascading simulation with recursive BFS chain reaction explosions.</a:t>
            </a:r>
          </a:p>
        </p:txBody>
      </p:sp>
      <p:sp>
        <p:nvSpPr>
          <p:cNvPr id="5" name="Rounded Rectangle 4"/>
          <p:cNvSpPr/>
          <p:nvPr/>
        </p:nvSpPr>
        <p:spPr>
          <a:xfrm>
            <a:off x="4389120" y="1645920"/>
            <a:ext cx="3291840" cy="45720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defRPr sz="1600" b="1">
                <a:solidFill>
                  <a:srgbClr val="0EA5E9"/>
                </a:solidFill>
              </a:defRPr>
            </a:pPr>
            <a:r>
              <a:t>Classic Board Games</a:t>
            </a:r>
          </a:p>
          <a:p>
            <a:pPr>
              <a:spcAft>
                <a:spcPts val="800"/>
              </a:spcAft>
            </a:pPr>
            <a:r>
              <a:rPr b="1" sz="1200">
                <a:solidFill>
                  <a:srgbClr val="F59E0B"/>
                </a:solidFill>
              </a:rPr>
              <a:t>Ludo King Royale: </a:t>
            </a:r>
            <a:r>
              <a:rPr sz="1200">
                <a:solidFill>
                  <a:srgbClr val="FFFFFF"/>
                </a:solidFill>
              </a:rPr>
              <a:t>52-cell track, 4-color yard routing, safe star pockets, hopping physics &amp; 3D CSS dice.</a:t>
            </a:r>
          </a:p>
          <a:p>
            <a:pPr>
              <a:spcAft>
                <a:spcPts val="800"/>
              </a:spcAft>
            </a:pPr>
            <a:r>
              <a:rPr b="1" sz="1200">
                <a:solidFill>
                  <a:srgbClr val="F59E0B"/>
                </a:solidFill>
              </a:rPr>
              <a:t>Carrom King Royale: </a:t>
            </a:r>
            <a:r>
              <a:rPr sz="1200">
                <a:solidFill>
                  <a:srgbClr val="FFFFFF"/>
                </a:solidFill>
              </a:rPr>
              <a:t>Authentic birchwood board, 300 FPS sub-stepped physics, ivory/ebony coins &amp; Queen rules.</a:t>
            </a:r>
          </a:p>
          <a:p>
            <a:pPr>
              <a:spcAft>
                <a:spcPts val="800"/>
              </a:spcAft>
            </a:pPr>
            <a:r>
              <a:rPr b="1" sz="1200">
                <a:solidFill>
                  <a:srgbClr val="F59E0B"/>
                </a:solidFill>
              </a:rPr>
              <a:t>Teen Patti Uno: </a:t>
            </a:r>
            <a:r>
              <a:rPr sz="1200">
                <a:solidFill>
                  <a:srgbClr val="FFFFFF"/>
                </a:solidFill>
              </a:rPr>
              <a:t>Casino felt table, action cards (Draw 2, Skip, Reverse, Wild), chip betting &amp; bot AI.</a:t>
            </a:r>
          </a:p>
        </p:txBody>
      </p:sp>
      <p:sp>
        <p:nvSpPr>
          <p:cNvPr id="6" name="Rounded Rectangle 5"/>
          <p:cNvSpPr/>
          <p:nvPr/>
        </p:nvSpPr>
        <p:spPr>
          <a:xfrm>
            <a:off x="8046720" y="1645920"/>
            <a:ext cx="3291840" cy="45720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defRPr sz="1600" b="1">
                <a:solidFill>
                  <a:srgbClr val="0EA5E9"/>
                </a:solidFill>
              </a:defRPr>
            </a:pPr>
            <a:r>
              <a:t>Real-Time Action</a:t>
            </a:r>
          </a:p>
          <a:p>
            <a:pPr>
              <a:spcAft>
                <a:spcPts val="800"/>
              </a:spcAft>
            </a:pPr>
            <a:r>
              <a:rPr b="1" sz="1200">
                <a:solidFill>
                  <a:srgbClr val="F59E0B"/>
                </a:solidFill>
              </a:rPr>
              <a:t>Mini Militia 2D: </a:t>
            </a:r>
            <a:r>
              <a:rPr sz="1200">
                <a:solidFill>
                  <a:srgbClr val="FFFFFF"/>
                </a:solidFill>
              </a:rPr>
              <a:t>2D side-scrolling combat, dual virtual analog joysticks, jetpack flight, and weapon ballistics.</a:t>
            </a:r>
          </a:p>
          <a:p>
            <a:pPr>
              <a:spcAft>
                <a:spcPts val="800"/>
              </a:spcAft>
            </a:pPr>
            <a:r>
              <a:rPr b="1" sz="1200">
                <a:solidFill>
                  <a:srgbClr val="F59E0B"/>
                </a:solidFill>
              </a:rPr>
              <a:t>Slither Battle Royale: </a:t>
            </a:r>
            <a:r>
              <a:rPr sz="1200">
                <a:solidFill>
                  <a:srgbClr val="FFFFFF"/>
                </a:solidFill>
              </a:rPr>
              <a:t>Massive 2200x2200 arena, energy orb consumption, body collision detection &amp; speed boost.</a:t>
            </a:r>
          </a:p>
          <a:p>
            <a:pPr>
              <a:spcAft>
                <a:spcPts val="800"/>
              </a:spcAft>
            </a:pPr>
            <a:r>
              <a:rPr b="1" sz="1200">
                <a:solidFill>
                  <a:srgbClr val="F59E0B"/>
                </a:solidFill>
              </a:rPr>
              <a:t>Cyber Bomb Arena: </a:t>
            </a:r>
            <a:r>
              <a:rPr sz="1200">
                <a:solidFill>
                  <a:srgbClr val="FFFFFF"/>
                </a:solidFill>
              </a:rPr>
              <a:t>Grid blast duel, destructible crates, power-up drops (speed, range, bombs), cross lasers.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0EA5E9"/>
                </a:solidFill>
              </a:defRPr>
            </a:pPr>
            <a:r>
              <a:t>4. DEEP ENGINEERING SPOTLIGHT</a:t>
            </a:r>
          </a:p>
          <a:p>
            <a:pPr>
              <a:spcAft>
                <a:spcPts val="300"/>
              </a:spcAft>
              <a:defRPr sz="2400" b="1">
                <a:solidFill>
                  <a:srgbClr val="FFFFFF"/>
                </a:solidFill>
              </a:defRPr>
            </a:pPr>
            <a:r>
              <a:t>300 FPS Sub-Stepped Physics Engine</a:t>
            </a:r>
          </a:p>
          <a:p>
            <a:pPr>
              <a:defRPr sz="1200">
                <a:solidFill>
                  <a:srgbClr val="B4C3D7"/>
                </a:solidFill>
              </a:defRPr>
            </a:pPr>
            <a:r>
              <a:t>Deterministic collision mechanics, friction models, and corner pocket vector suction</a:t>
            </a:r>
          </a:p>
        </p:txBody>
      </p:sp>
      <p:sp>
        <p:nvSpPr>
          <p:cNvPr id="4" name="Rounded Rectangle 3"/>
          <p:cNvSpPr/>
          <p:nvPr/>
        </p:nvSpPr>
        <p:spPr>
          <a:xfrm>
            <a:off x="731520" y="1645920"/>
            <a:ext cx="5120640" cy="45720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defRPr sz="1600" b="1">
                <a:solidFill>
                  <a:srgbClr val="0EA5E9"/>
                </a:solidFill>
              </a:defRPr>
            </a:pPr>
            <a:r>
              <a:t>Mathematical Formulation</a:t>
            </a:r>
          </a:p>
          <a:p>
            <a:pPr>
              <a:spcAft>
                <a:spcPts val="800"/>
              </a:spcAft>
            </a:pPr>
            <a:r>
              <a:rPr b="1" sz="1200">
                <a:solidFill>
                  <a:srgbClr val="F59E0B"/>
                </a:solidFill>
              </a:rPr>
              <a:t>Eulerian Integration: </a:t>
            </a:r>
            <a:r>
              <a:rPr sz="1200">
                <a:solidFill>
                  <a:srgbClr val="FFFFFF"/>
                </a:solidFill>
              </a:rPr>
              <a:t>Position update: x(t + dt) = x(t) + v(t) * dt. Velocity damping: v = v * (mu)^dt.</a:t>
            </a:r>
          </a:p>
          <a:p>
            <a:pPr>
              <a:spcAft>
                <a:spcPts val="800"/>
              </a:spcAft>
            </a:pPr>
            <a:r>
              <a:rPr b="1" sz="1200">
                <a:solidFill>
                  <a:srgbClr val="F59E0B"/>
                </a:solidFill>
              </a:rPr>
              <a:t>300 FPS Sub-Stepping: </a:t>
            </a:r>
            <a:r>
              <a:rPr sz="1200">
                <a:solidFill>
                  <a:srgbClr val="FFFFFF"/>
                </a:solidFill>
              </a:rPr>
              <a:t>To prevent tunneling at high striker velocity (700 px/s), each 60Hz frame is divided into 5 discrete sub-steps (dt = 1/300 s).</a:t>
            </a:r>
          </a:p>
          <a:p>
            <a:pPr>
              <a:spcAft>
                <a:spcPts val="800"/>
              </a:spcAft>
            </a:pPr>
            <a:r>
              <a:rPr b="1" sz="1200">
                <a:solidFill>
                  <a:srgbClr val="F59E0B"/>
                </a:solidFill>
              </a:rPr>
              <a:t>Elastic Impulse Response: </a:t>
            </a:r>
            <a:r>
              <a:rPr sz="1200">
                <a:solidFill>
                  <a:srgbClr val="FFFFFF"/>
                </a:solidFill>
              </a:rPr>
              <a:t>Inter-coin collisions calculate contact normal n = (p2 - p1) / |p2 - p1| and apply impulse with restitution e = 0.91.</a:t>
            </a:r>
          </a:p>
          <a:p>
            <a:pPr>
              <a:spcAft>
                <a:spcPts val="800"/>
              </a:spcAft>
            </a:pPr>
            <a:r>
              <a:rPr b="1" sz="1200">
                <a:solidFill>
                  <a:srgbClr val="F59E0B"/>
                </a:solidFill>
              </a:rPr>
              <a:t>Bilinear Rail Cushion: </a:t>
            </a:r>
            <a:r>
              <a:rPr sz="1200">
                <a:solidFill>
                  <a:srgbClr val="FFFFFF"/>
                </a:solidFill>
              </a:rPr>
              <a:t>Hardwood border reflection cushions apply normal velocity inversion with energy loss: v_n = -0.88 * v_n.</a:t>
            </a:r>
          </a:p>
        </p:txBody>
      </p:sp>
      <p:sp>
        <p:nvSpPr>
          <p:cNvPr id="5" name="Rounded Rectangle 4"/>
          <p:cNvSpPr/>
          <p:nvPr/>
        </p:nvSpPr>
        <p:spPr>
          <a:xfrm>
            <a:off x="6309360" y="1645920"/>
            <a:ext cx="5120640" cy="45720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defRPr sz="1600" b="1">
                <a:solidFill>
                  <a:srgbClr val="0EA5E9"/>
                </a:solidFill>
              </a:defRPr>
            </a:pPr>
            <a:r>
              <a:t>Pocket Suction &amp; Humanized AI</a:t>
            </a:r>
          </a:p>
          <a:p>
            <a:pPr>
              <a:spcAft>
                <a:spcPts val="800"/>
              </a:spcAft>
            </a:pPr>
            <a:r>
              <a:rPr b="1" sz="1200">
                <a:solidFill>
                  <a:srgbClr val="F59E0B"/>
                </a:solidFill>
              </a:rPr>
              <a:t>Gravitational Fall Field: </a:t>
            </a:r>
            <a:r>
              <a:rPr sz="1200">
                <a:solidFill>
                  <a:srgbClr val="FFFFFF"/>
                </a:solidFill>
              </a:rPr>
              <a:t>Corner pockets exert radial gravity pull when coin enters radius &lt; 27px, ensuring realistic drop physics.</a:t>
            </a:r>
          </a:p>
          <a:p>
            <a:pPr>
              <a:spcAft>
                <a:spcPts val="800"/>
              </a:spcAft>
            </a:pPr>
            <a:r>
              <a:rPr b="1" sz="1200">
                <a:solidFill>
                  <a:srgbClr val="F59E0B"/>
                </a:solidFill>
              </a:rPr>
              <a:t>Queen Cover Rule Engine: </a:t>
            </a:r>
            <a:r>
              <a:rPr sz="1200">
                <a:solidFill>
                  <a:srgbClr val="FFFFFF"/>
                </a:solidFill>
              </a:rPr>
              <a:t>Finite-state machine enforcing Indian Carrom Federation rules: Queen pocketed must be followed by immediate cover coin.</a:t>
            </a:r>
          </a:p>
          <a:p>
            <a:pPr>
              <a:spcAft>
                <a:spcPts val="800"/>
              </a:spcAft>
            </a:pPr>
            <a:r>
              <a:rPr b="1" sz="1200">
                <a:solidFill>
                  <a:srgbClr val="F59E0B"/>
                </a:solidFill>
              </a:rPr>
              <a:t>Geometric AI Solver: </a:t>
            </a:r>
            <a:r>
              <a:rPr sz="1200">
                <a:solidFill>
                  <a:srgbClr val="FFFFFF"/>
                </a:solidFill>
              </a:rPr>
              <a:t>Bot calculates tangent strike vectors: targets coin nearest pocket, finds reverse angle, and slides along baseline.</a:t>
            </a:r>
          </a:p>
          <a:p>
            <a:pPr>
              <a:spcAft>
                <a:spcPts val="800"/>
              </a:spcAft>
            </a:pPr>
            <a:r>
              <a:rPr b="1" sz="1200">
                <a:solidFill>
                  <a:srgbClr val="F59E0B"/>
                </a:solidFill>
              </a:rPr>
              <a:t>Humanized Shot Pacing: </a:t>
            </a:r>
            <a:r>
              <a:rPr sz="1200">
                <a:solidFill>
                  <a:srgbClr val="FFFFFF"/>
                </a:solidFill>
              </a:rPr>
              <a:t>Multi-stage animation sequence: 600ms think -&gt; 700ms slide -&gt; 500ms aim line rotation -&gt; 350ms charge -&gt; flick.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0EA5E9"/>
                </a:solidFill>
              </a:defRPr>
            </a:pPr>
            <a:r>
              <a:t>5. ARTIFICIAL INTELLIGENCE</a:t>
            </a:r>
          </a:p>
          <a:p>
            <a:pPr>
              <a:spcAft>
                <a:spcPts val="300"/>
              </a:spcAft>
              <a:defRPr sz="2400" b="1">
                <a:solidFill>
                  <a:srgbClr val="FFFFFF"/>
                </a:solidFill>
              </a:defRPr>
            </a:pPr>
            <a:r>
              <a:t>Autonomous Bot Logic &amp; Decision Trees</a:t>
            </a:r>
          </a:p>
          <a:p>
            <a:pPr>
              <a:defRPr sz="1200">
                <a:solidFill>
                  <a:srgbClr val="B4C3D7"/>
                </a:solidFill>
              </a:defRPr>
            </a:pPr>
            <a:r>
              <a:t>Minimax search, heuristic evaluation, and recursive cascade simulations</a:t>
            </a:r>
          </a:p>
        </p:txBody>
      </p:sp>
      <p:sp>
        <p:nvSpPr>
          <p:cNvPr id="4" name="Rounded Rectangle 3"/>
          <p:cNvSpPr/>
          <p:nvPr/>
        </p:nvSpPr>
        <p:spPr>
          <a:xfrm>
            <a:off x="731520" y="1645920"/>
            <a:ext cx="3291840" cy="45720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defRPr sz="1600" b="1">
                <a:solidFill>
                  <a:srgbClr val="0EA5E9"/>
                </a:solidFill>
              </a:defRPr>
            </a:pPr>
            <a:r>
              <a:t>Cyber Chess AI</a:t>
            </a:r>
          </a:p>
          <a:p>
            <a:pPr>
              <a:spcAft>
                <a:spcPts val="800"/>
              </a:spcAft>
            </a:pPr>
            <a:r>
              <a:rPr b="1" sz="1200">
                <a:solidFill>
                  <a:srgbClr val="F59E0B"/>
                </a:solidFill>
              </a:rPr>
              <a:t>Minimax Search: </a:t>
            </a:r>
            <a:r>
              <a:rPr sz="1200">
                <a:solidFill>
                  <a:srgbClr val="FFFFFF"/>
                </a:solidFill>
              </a:rPr>
              <a:t>Evaluates recursive future board states with 3-ply lookahead tree.</a:t>
            </a:r>
          </a:p>
          <a:p>
            <a:pPr>
              <a:spcAft>
                <a:spcPts val="800"/>
              </a:spcAft>
            </a:pPr>
            <a:r>
              <a:rPr b="1" sz="1200">
                <a:solidFill>
                  <a:srgbClr val="F59E0B"/>
                </a:solidFill>
              </a:rPr>
              <a:t>Alpha-Beta Pruning: </a:t>
            </a:r>
            <a:r>
              <a:rPr sz="1200">
                <a:solidFill>
                  <a:srgbClr val="FFFFFF"/>
                </a:solidFill>
              </a:rPr>
              <a:t>Prunes non-optimal game tree branches, cutting computational search complexity by ~65%.</a:t>
            </a:r>
          </a:p>
          <a:p>
            <a:pPr>
              <a:spcAft>
                <a:spcPts val="800"/>
              </a:spcAft>
            </a:pPr>
            <a:r>
              <a:rPr b="1" sz="1200">
                <a:solidFill>
                  <a:srgbClr val="F59E0B"/>
                </a:solidFill>
              </a:rPr>
              <a:t>Piece-Square Tables: </a:t>
            </a:r>
            <a:r>
              <a:rPr sz="1200">
                <a:solidFill>
                  <a:srgbClr val="FFFFFF"/>
                </a:solidFill>
              </a:rPr>
              <a:t>Heuristic position matrix rewarding center control, pawn development, and king safety.</a:t>
            </a:r>
          </a:p>
          <a:p>
            <a:pPr>
              <a:spcAft>
                <a:spcPts val="800"/>
              </a:spcAft>
            </a:pPr>
            <a:r>
              <a:rPr b="1" sz="1200">
                <a:solidFill>
                  <a:srgbClr val="F59E0B"/>
                </a:solidFill>
              </a:rPr>
              <a:t>Material Weighting: </a:t>
            </a:r>
            <a:r>
              <a:rPr sz="1200">
                <a:solidFill>
                  <a:srgbClr val="FFFFFF"/>
                </a:solidFill>
              </a:rPr>
              <a:t>Calculates material imbalance (P=1, N/B=3, R=5, Q=9, K=1000).</a:t>
            </a:r>
          </a:p>
        </p:txBody>
      </p:sp>
      <p:sp>
        <p:nvSpPr>
          <p:cNvPr id="5" name="Rounded Rectangle 4"/>
          <p:cNvSpPr/>
          <p:nvPr/>
        </p:nvSpPr>
        <p:spPr>
          <a:xfrm>
            <a:off x="4389120" y="1645920"/>
            <a:ext cx="3291840" cy="45720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defRPr sz="1600" b="1">
                <a:solidFill>
                  <a:srgbClr val="0EA5E9"/>
                </a:solidFill>
              </a:defRPr>
            </a:pPr>
            <a:r>
              <a:t>Connect 4 Minimax</a:t>
            </a:r>
          </a:p>
          <a:p>
            <a:pPr>
              <a:spcAft>
                <a:spcPts val="800"/>
              </a:spcAft>
            </a:pPr>
            <a:r>
              <a:rPr b="1" sz="1200">
                <a:solidFill>
                  <a:srgbClr val="F59E0B"/>
                </a:solidFill>
              </a:rPr>
              <a:t>State Evaluation Matrix: </a:t>
            </a:r>
            <a:r>
              <a:rPr sz="1200">
                <a:solidFill>
                  <a:srgbClr val="FFFFFF"/>
                </a:solidFill>
              </a:rPr>
              <a:t>Scores consecutive 2-in-a-row (+10), 3-in-a-row (+100), and terminal win lines (+10,000).</a:t>
            </a:r>
          </a:p>
          <a:p>
            <a:pPr>
              <a:spcAft>
                <a:spcPts val="800"/>
              </a:spcAft>
            </a:pPr>
            <a:r>
              <a:rPr b="1" sz="1200">
                <a:solidFill>
                  <a:srgbClr val="F59E0B"/>
                </a:solidFill>
              </a:rPr>
              <a:t>Defensive Interception: </a:t>
            </a:r>
            <a:r>
              <a:rPr sz="1200">
                <a:solidFill>
                  <a:srgbClr val="FFFFFF"/>
                </a:solidFill>
              </a:rPr>
              <a:t>Immediately detects and blocks opponent winning 3-in-a-row configurations in column projection.</a:t>
            </a:r>
          </a:p>
          <a:p>
            <a:pPr>
              <a:spcAft>
                <a:spcPts val="800"/>
              </a:spcAft>
            </a:pPr>
            <a:r>
              <a:rPr b="1" sz="1200">
                <a:solidFill>
                  <a:srgbClr val="F59E0B"/>
                </a:solidFill>
              </a:rPr>
              <a:t>Center Bias Strategy: </a:t>
            </a:r>
            <a:r>
              <a:rPr sz="1200">
                <a:solidFill>
                  <a:srgbClr val="FFFFFF"/>
                </a:solidFill>
              </a:rPr>
              <a:t>Prioritizes center column index 3 to maximize vertical, horizontal, and diagonal win vectors.</a:t>
            </a:r>
          </a:p>
        </p:txBody>
      </p:sp>
      <p:sp>
        <p:nvSpPr>
          <p:cNvPr id="6" name="Rounded Rectangle 5"/>
          <p:cNvSpPr/>
          <p:nvPr/>
        </p:nvSpPr>
        <p:spPr>
          <a:xfrm>
            <a:off x="8046720" y="1645920"/>
            <a:ext cx="3291840" cy="45720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defRPr sz="1600" b="1">
                <a:solidFill>
                  <a:srgbClr val="0EA5E9"/>
                </a:solidFill>
              </a:defRPr>
            </a:pPr>
            <a:r>
              <a:t>Chain Reaction BFS</a:t>
            </a:r>
          </a:p>
          <a:p>
            <a:pPr>
              <a:spcAft>
                <a:spcPts val="800"/>
              </a:spcAft>
            </a:pPr>
            <a:r>
              <a:rPr b="1" sz="1200">
                <a:solidFill>
                  <a:srgbClr val="F59E0B"/>
                </a:solidFill>
              </a:rPr>
              <a:t>Critical Mass Array: </a:t>
            </a:r>
            <a:r>
              <a:rPr sz="1200">
                <a:solidFill>
                  <a:srgbClr val="FFFFFF"/>
                </a:solidFill>
              </a:rPr>
              <a:t>Cells explode at capacity: corners = 2, edges = 3, center = 4 orbs.</a:t>
            </a:r>
          </a:p>
          <a:p>
            <a:pPr>
              <a:spcAft>
                <a:spcPts val="800"/>
              </a:spcAft>
            </a:pPr>
            <a:r>
              <a:rPr b="1" sz="1200">
                <a:solidFill>
                  <a:srgbClr val="F59E0B"/>
                </a:solidFill>
              </a:rPr>
              <a:t>Recursive Cascade BFS: </a:t>
            </a:r>
            <a:r>
              <a:rPr sz="1200">
                <a:solidFill>
                  <a:srgbClr val="FFFFFF"/>
                </a:solidFill>
              </a:rPr>
              <a:t>Queue-based cascade propagation computing explosive chain reactions across the 9x6 grid.</a:t>
            </a:r>
          </a:p>
          <a:p>
            <a:pPr>
              <a:spcAft>
                <a:spcPts val="800"/>
              </a:spcAft>
            </a:pPr>
            <a:r>
              <a:rPr b="1" sz="1200">
                <a:solidFill>
                  <a:srgbClr val="F59E0B"/>
                </a:solidFill>
              </a:rPr>
              <a:t>Opportunistic Takeover: </a:t>
            </a:r>
            <a:r>
              <a:rPr sz="1200">
                <a:solidFill>
                  <a:srgbClr val="FFFFFF"/>
                </a:solidFill>
              </a:rPr>
              <a:t>AI identifies unstable neighbor cells (critical - 1) to trigger multi-cell territory conquest.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0EA5E9"/>
                </a:solidFill>
              </a:defRPr>
            </a:pPr>
            <a:r>
              <a:t>6. MOBILE ARCHITECTURE</a:t>
            </a:r>
          </a:p>
          <a:p>
            <a:pPr>
              <a:spcAft>
                <a:spcPts val="300"/>
              </a:spcAft>
              <a:defRPr sz="2400" b="1">
                <a:solidFill>
                  <a:srgbClr val="FFFFFF"/>
                </a:solidFill>
              </a:defRPr>
            </a:pPr>
            <a:r>
              <a:t>Hybrid React Native &amp; Expo Go Engine</a:t>
            </a:r>
          </a:p>
          <a:p>
            <a:pPr>
              <a:defRPr sz="1200">
                <a:solidFill>
                  <a:srgbClr val="B4C3D7"/>
                </a:solidFill>
              </a:defRPr>
            </a:pPr>
            <a:r>
              <a:t>Native hardware binding, dynamic orientation locking, and embedded asset bundling</a:t>
            </a:r>
          </a:p>
        </p:txBody>
      </p:sp>
      <p:sp>
        <p:nvSpPr>
          <p:cNvPr id="4" name="Rounded Rectangle 3"/>
          <p:cNvSpPr/>
          <p:nvPr/>
        </p:nvSpPr>
        <p:spPr>
          <a:xfrm>
            <a:off x="731520" y="1645920"/>
            <a:ext cx="3291840" cy="45720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defRPr sz="1600" b="1">
                <a:solidFill>
                  <a:srgbClr val="0EA5E9"/>
                </a:solidFill>
              </a:defRPr>
            </a:pPr>
            <a:r>
              <a:t>Modular React Native</a:t>
            </a:r>
          </a:p>
          <a:p>
            <a:pPr>
              <a:spcAft>
                <a:spcPts val="800"/>
              </a:spcAft>
            </a:pPr>
            <a:r>
              <a:rPr b="1" sz="1200">
                <a:solidFill>
                  <a:srgbClr val="F59E0B"/>
                </a:solidFill>
              </a:rPr>
              <a:t>Component Hierarchy: </a:t>
            </a:r>
            <a:r>
              <a:rPr sz="1200">
                <a:solidFill>
                  <a:srgbClr val="FFFFFF"/>
                </a:solidFill>
              </a:rPr>
              <a:t>Clean separation of HeaderBar, GameWebView, ConnectionModal, and LoadingOverlay.</a:t>
            </a:r>
          </a:p>
          <a:p>
            <a:pPr>
              <a:spcAft>
                <a:spcPts val="800"/>
              </a:spcAft>
            </a:pPr>
            <a:r>
              <a:rPr b="1" sz="1200">
                <a:solidFill>
                  <a:srgbClr val="F59E0B"/>
                </a:solidFill>
              </a:rPr>
              <a:t>Safe Area Insets: </a:t>
            </a:r>
            <a:r>
              <a:rPr sz="1200">
                <a:solidFill>
                  <a:srgbClr val="FFFFFF"/>
                </a:solidFill>
              </a:rPr>
              <a:t>Respects Android camera punch-holes, notches, and navigation gesture bars dynamically.</a:t>
            </a:r>
          </a:p>
          <a:p>
            <a:pPr>
              <a:spcAft>
                <a:spcPts val="800"/>
              </a:spcAft>
            </a:pPr>
            <a:r>
              <a:rPr b="1" sz="1200">
                <a:solidFill>
                  <a:srgbClr val="F59E0B"/>
                </a:solidFill>
              </a:rPr>
              <a:t>Custom React Hooks: </a:t>
            </a:r>
            <a:r>
              <a:rPr sz="1200">
                <a:solidFill>
                  <a:srgbClr val="FFFFFF"/>
                </a:solidFill>
              </a:rPr>
              <a:t>useOrientation, useHardwareBack, and useNetworkConfig abstracting device APIs.</a:t>
            </a:r>
          </a:p>
        </p:txBody>
      </p:sp>
      <p:sp>
        <p:nvSpPr>
          <p:cNvPr id="5" name="Rounded Rectangle 4"/>
          <p:cNvSpPr/>
          <p:nvPr/>
        </p:nvSpPr>
        <p:spPr>
          <a:xfrm>
            <a:off x="4389120" y="1645920"/>
            <a:ext cx="3291840" cy="45720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defRPr sz="1600" b="1">
                <a:solidFill>
                  <a:srgbClr val="0EA5E9"/>
                </a:solidFill>
              </a:defRPr>
            </a:pPr>
            <a:r>
              <a:t>Native Hardware Hooks</a:t>
            </a:r>
          </a:p>
          <a:p>
            <a:pPr>
              <a:spcAft>
                <a:spcPts val="800"/>
              </a:spcAft>
            </a:pPr>
            <a:r>
              <a:rPr b="1" sz="1200">
                <a:solidFill>
                  <a:srgbClr val="F59E0B"/>
                </a:solidFill>
              </a:rPr>
              <a:t>Auto Orientation Locking: </a:t>
            </a:r>
            <a:r>
              <a:rPr sz="1200">
                <a:solidFill>
                  <a:srgbClr val="FFFFFF"/>
                </a:solidFill>
              </a:rPr>
              <a:t>Dynamically locks landscape mode for Mini Militia combat; unlocks portrait for Ludo &amp; Chess.</a:t>
            </a:r>
          </a:p>
          <a:p>
            <a:pPr>
              <a:spcAft>
                <a:spcPts val="800"/>
              </a:spcAft>
            </a:pPr>
            <a:r>
              <a:rPr b="1" sz="1200">
                <a:solidFill>
                  <a:srgbClr val="F59E0B"/>
                </a:solidFill>
              </a:rPr>
              <a:t>Hardware Back Interception: </a:t>
            </a:r>
            <a:r>
              <a:rPr sz="1200">
                <a:solidFill>
                  <a:srgbClr val="FFFFFF"/>
                </a:solidFill>
              </a:rPr>
              <a:t>Traps Android back button: exits active match to lobby, or lobby to home view with 0 accidental app exits.</a:t>
            </a:r>
          </a:p>
          <a:p>
            <a:pPr>
              <a:spcAft>
                <a:spcPts val="800"/>
              </a:spcAft>
            </a:pPr>
            <a:r>
              <a:rPr b="1" sz="1200">
                <a:solidFill>
                  <a:srgbClr val="F59E0B"/>
                </a:solidFill>
              </a:rPr>
              <a:t>Virtual Joystick Engine: </a:t>
            </a:r>
            <a:r>
              <a:rPr sz="1200">
                <a:solidFill>
                  <a:srgbClr val="FFFFFF"/>
                </a:solidFill>
              </a:rPr>
              <a:t>Multi-touch touchstart/touchmove event handling with passive: false to prevent scrolling.</a:t>
            </a:r>
          </a:p>
        </p:txBody>
      </p:sp>
      <p:sp>
        <p:nvSpPr>
          <p:cNvPr id="6" name="Rounded Rectangle 5"/>
          <p:cNvSpPr/>
          <p:nvPr/>
        </p:nvSpPr>
        <p:spPr>
          <a:xfrm>
            <a:off x="8046720" y="1645920"/>
            <a:ext cx="3291840" cy="45720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defRPr sz="1600" b="1">
                <a:solidFill>
                  <a:srgbClr val="0EA5E9"/>
                </a:solidFill>
              </a:defRPr>
            </a:pPr>
            <a:r>
              <a:t>Zero-Data Offline Bundle</a:t>
            </a:r>
          </a:p>
          <a:p>
            <a:pPr>
              <a:spcAft>
                <a:spcPts val="800"/>
              </a:spcAft>
            </a:pPr>
            <a:r>
              <a:rPr b="1" sz="1200">
                <a:solidFill>
                  <a:srgbClr val="F59E0B"/>
                </a:solidFill>
              </a:rPr>
              <a:t>Base64 Inlining: </a:t>
            </a:r>
            <a:r>
              <a:rPr sz="1200">
                <a:solidFill>
                  <a:srgbClr val="FFFFFF"/>
                </a:solidFill>
              </a:rPr>
              <a:t>Compiles all 9 vector SVG artworks, styles, and logic into a single 614 KB JavaScript module.</a:t>
            </a:r>
          </a:p>
          <a:p>
            <a:pPr>
              <a:spcAft>
                <a:spcPts val="800"/>
              </a:spcAft>
            </a:pPr>
            <a:r>
              <a:rPr b="1" sz="1200">
                <a:solidFill>
                  <a:srgbClr val="F59E0B"/>
                </a:solidFill>
              </a:rPr>
              <a:t>Zero Network Asset Fetch: </a:t>
            </a:r>
            <a:r>
              <a:rPr sz="1200">
                <a:solidFill>
                  <a:srgbClr val="FFFFFF"/>
                </a:solidFill>
              </a:rPr>
              <a:t>Mobile app boots instantly in airplane mode with 0 external network requests.</a:t>
            </a:r>
          </a:p>
          <a:p>
            <a:pPr>
              <a:spcAft>
                <a:spcPts val="800"/>
              </a:spcAft>
            </a:pPr>
            <a:r>
              <a:rPr b="1" sz="1200">
                <a:solidFill>
                  <a:srgbClr val="F59E0B"/>
                </a:solidFill>
              </a:rPr>
              <a:t>High-DPI Canvas Scaling: </a:t>
            </a:r>
            <a:r>
              <a:rPr sz="1200">
                <a:solidFill>
                  <a:srgbClr val="FFFFFF"/>
                </a:solidFill>
              </a:rPr>
              <a:t>Leverages window.devicePixelRatio (2.0x-3.0x) for ultra-crisp mobile retina rendering.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0EA5E9"/>
                </a:solidFill>
              </a:defRPr>
            </a:pPr>
            <a:r>
              <a:t>7. RESULTS &amp; BENCHMARKS</a:t>
            </a:r>
          </a:p>
          <a:p>
            <a:pPr>
              <a:spcAft>
                <a:spcPts val="300"/>
              </a:spcAft>
              <a:defRPr sz="2400" b="1">
                <a:solidFill>
                  <a:srgbClr val="FFFFFF"/>
                </a:solidFill>
              </a:defRPr>
            </a:pPr>
            <a:r>
              <a:t>Empirical Performance &amp; Quantitative Analysis</a:t>
            </a:r>
          </a:p>
          <a:p>
            <a:pPr>
              <a:defRPr sz="1200">
                <a:solidFill>
                  <a:srgbClr val="B4C3D7"/>
                </a:solidFill>
              </a:defRPr>
            </a:pPr>
            <a:r>
              <a:t>Benchmarked across local Wi-Fi, phone hotspots, and traditional cloud multiplayer</a:t>
            </a:r>
          </a:p>
        </p:txBody>
      </p:sp>
      <p:graphicFrame>
        <p:nvGraphicFramePr>
          <p:cNvPr id="4" name="Table 3"/>
          <p:cNvGraphicFramePr>
            <a:graphicFrameLocks noGrp="1"/>
          </p:cNvGraphicFramePr>
          <p:nvPr/>
        </p:nvGraphicFramePr>
        <p:xfrm>
          <a:off x="731520" y="1645920"/>
          <a:ext cx="10716764" cy="2286000"/>
        </p:xfrm>
        <a:graphic>
          <a:graphicData uri="http://schemas.openxmlformats.org/drawingml/2006/table">
            <a:tbl>
              <a:tblPr firstRow="1" bandRow="1">
                <a:tableStyleId>{5C22544A-7EE6-4342-B048-85BDC9FD1C3A}</a:tableStyleId>
              </a:tblPr>
              <a:tblGrid>
                <a:gridCol w="2377440"/>
                <a:gridCol w="2084831"/>
                <a:gridCol w="2084831"/>
                <a:gridCol w="2084831"/>
                <a:gridCol w="2084831"/>
              </a:tblGrid>
              <a:tr h="457200">
                <a:tc>
                  <a:txBody>
                    <a:bodyPr/>
                    <a:lstStyle/>
                    <a:p>
                      <a:pPr>
                        <a:defRPr b="1" sz="1200">
                          <a:solidFill>
                            <a:srgbClr val="0EA5E9"/>
                          </a:solidFill>
                        </a:defRPr>
                      </a:pPr>
                      <a:r>
                        <a:t>Metric</a:t>
                      </a:r>
                    </a:p>
                  </a:txBody>
                  <a:tcPr>
                    <a:solidFill>
                      <a:srgbClr val="1C2541"/>
                    </a:solidFill>
                  </a:tcPr>
                </a:tc>
                <a:tc>
                  <a:txBody>
                    <a:bodyPr/>
                    <a:lstStyle/>
                    <a:p>
                      <a:pPr>
                        <a:defRPr b="1" sz="1200">
                          <a:solidFill>
                            <a:srgbClr val="0EA5E9"/>
                          </a:solidFill>
                        </a:defRPr>
                      </a:pPr>
                      <a:r>
                        <a:t>Traditional Cloud</a:t>
                      </a:r>
                    </a:p>
                  </a:txBody>
                  <a:tcPr>
                    <a:solidFill>
                      <a:srgbClr val="1C2541"/>
                    </a:solidFill>
                  </a:tcPr>
                </a:tc>
                <a:tc>
                  <a:txBody>
                    <a:bodyPr/>
                    <a:lstStyle/>
                    <a:p>
                      <a:pPr>
                        <a:defRPr b="1" sz="1200">
                          <a:solidFill>
                            <a:srgbClr val="0EA5E9"/>
                          </a:solidFill>
                        </a:defRPr>
                      </a:pPr>
                      <a:r>
                        <a:t>Local Wi-Fi Router</a:t>
                      </a:r>
                    </a:p>
                  </a:txBody>
                  <a:tcPr>
                    <a:solidFill>
                      <a:srgbClr val="1C2541"/>
                    </a:solidFill>
                  </a:tcPr>
                </a:tc>
                <a:tc>
                  <a:txBody>
                    <a:bodyPr/>
                    <a:lstStyle/>
                    <a:p>
                      <a:pPr>
                        <a:defRPr b="1" sz="1200">
                          <a:solidFill>
                            <a:srgbClr val="0EA5E9"/>
                          </a:solidFill>
                        </a:defRPr>
                      </a:pPr>
                      <a:r>
                        <a:t>Mobile Phone Hotspot</a:t>
                      </a:r>
                    </a:p>
                  </a:txBody>
                  <a:tcPr>
                    <a:solidFill>
                      <a:srgbClr val="1C2541"/>
                    </a:solidFill>
                  </a:tcPr>
                </a:tc>
                <a:tc>
                  <a:txBody>
                    <a:bodyPr/>
                    <a:lstStyle/>
                    <a:p>
                      <a:pPr>
                        <a:defRPr b="1" sz="1200">
                          <a:solidFill>
                            <a:srgbClr val="0EA5E9"/>
                          </a:solidFill>
                        </a:defRPr>
                      </a:pPr>
                      <a:r>
                        <a:t>Sudarshan Advantage</a:t>
                      </a:r>
                    </a:p>
                  </a:txBody>
                  <a:tcPr>
                    <a:solidFill>
                      <a:srgbClr val="1C2541"/>
                    </a:solidFill>
                  </a:tcPr>
                </a:tc>
              </a:tr>
              <a:tr h="457200">
                <a:tc>
                  <a:txBody>
                    <a:bodyPr/>
                    <a:lstStyle/>
                    <a:p>
                      <a:pPr>
                        <a:defRPr sz="1100">
                          <a:solidFill>
                            <a:srgbClr val="FFFFFF"/>
                          </a:solidFill>
                        </a:defRPr>
                      </a:pPr>
                      <a:r>
                        <a:t>Network Round-Trip Ping</a:t>
                      </a:r>
                    </a:p>
                  </a:txBody>
                  <a:tcPr>
                    <a:solidFill>
                      <a:srgbClr val="0B132B"/>
                    </a:solidFill>
                  </a:tcPr>
                </a:tc>
                <a:tc>
                  <a:txBody>
                    <a:bodyPr/>
                    <a:lstStyle/>
                    <a:p>
                      <a:pPr>
                        <a:defRPr sz="1100">
                          <a:solidFill>
                            <a:srgbClr val="FFFFFF"/>
                          </a:solidFill>
                        </a:defRPr>
                      </a:pPr>
                      <a:r>
                        <a:t>85 ms – 260 ms</a:t>
                      </a:r>
                    </a:p>
                  </a:txBody>
                  <a:tcPr>
                    <a:solidFill>
                      <a:srgbClr val="0B132B"/>
                    </a:solidFill>
                  </a:tcPr>
                </a:tc>
                <a:tc>
                  <a:txBody>
                    <a:bodyPr/>
                    <a:lstStyle/>
                    <a:p>
                      <a:pPr>
                        <a:defRPr sz="1100">
                          <a:solidFill>
                            <a:srgbClr val="FFFFFF"/>
                          </a:solidFill>
                        </a:defRPr>
                      </a:pPr>
                      <a:r>
                        <a:t>2.1 ms – 3.8 ms</a:t>
                      </a:r>
                    </a:p>
                  </a:txBody>
                  <a:tcPr>
                    <a:solidFill>
                      <a:srgbClr val="0B132B"/>
                    </a:solidFill>
                  </a:tcPr>
                </a:tc>
                <a:tc>
                  <a:txBody>
                    <a:bodyPr/>
                    <a:lstStyle/>
                    <a:p>
                      <a:pPr>
                        <a:defRPr sz="1100">
                          <a:solidFill>
                            <a:srgbClr val="FFFFFF"/>
                          </a:solidFill>
                        </a:defRPr>
                      </a:pPr>
                      <a:r>
                        <a:t>3.4 ms – 5.2 ms</a:t>
                      </a:r>
                    </a:p>
                  </a:txBody>
                  <a:tcPr>
                    <a:solidFill>
                      <a:srgbClr val="0B132B"/>
                    </a:solidFill>
                  </a:tcPr>
                </a:tc>
                <a:tc>
                  <a:txBody>
                    <a:bodyPr/>
                    <a:lstStyle/>
                    <a:p>
                      <a:pPr>
                        <a:defRPr sz="1100">
                          <a:solidFill>
                            <a:srgbClr val="10B981"/>
                          </a:solidFill>
                        </a:defRPr>
                      </a:pPr>
                      <a:r>
                        <a:t>96% Latency Reduction</a:t>
                      </a:r>
                    </a:p>
                  </a:txBody>
                  <a:tcPr>
                    <a:solidFill>
                      <a:srgbClr val="0B132B"/>
                    </a:solidFill>
                  </a:tcPr>
                </a:tc>
              </a:tr>
              <a:tr h="457200">
                <a:tc>
                  <a:txBody>
                    <a:bodyPr/>
                    <a:lstStyle/>
                    <a:p>
                      <a:pPr>
                        <a:defRPr sz="1100">
                          <a:solidFill>
                            <a:srgbClr val="FFFFFF"/>
                          </a:solidFill>
                        </a:defRPr>
                      </a:pPr>
                      <a:r>
                        <a:t>Cellular Data Consumed</a:t>
                      </a:r>
                    </a:p>
                  </a:txBody>
                  <a:tcPr>
                    <a:solidFill>
                      <a:srgbClr val="0B132B"/>
                    </a:solidFill>
                  </a:tcPr>
                </a:tc>
                <a:tc>
                  <a:txBody>
                    <a:bodyPr/>
                    <a:lstStyle/>
                    <a:p>
                      <a:pPr>
                        <a:defRPr sz="1100">
                          <a:solidFill>
                            <a:srgbClr val="FFFFFF"/>
                          </a:solidFill>
                        </a:defRPr>
                      </a:pPr>
                      <a:r>
                        <a:t>45 – 120 MB / hr</a:t>
                      </a:r>
                    </a:p>
                  </a:txBody>
                  <a:tcPr>
                    <a:solidFill>
                      <a:srgbClr val="0B132B"/>
                    </a:solidFill>
                  </a:tcPr>
                </a:tc>
                <a:tc>
                  <a:txBody>
                    <a:bodyPr/>
                    <a:lstStyle/>
                    <a:p>
                      <a:pPr>
                        <a:defRPr sz="1100">
                          <a:solidFill>
                            <a:srgbClr val="FFFFFF"/>
                          </a:solidFill>
                        </a:defRPr>
                      </a:pPr>
                      <a:r>
                        <a:t>0.00 KB</a:t>
                      </a:r>
                    </a:p>
                  </a:txBody>
                  <a:tcPr>
                    <a:solidFill>
                      <a:srgbClr val="0B132B"/>
                    </a:solidFill>
                  </a:tcPr>
                </a:tc>
                <a:tc>
                  <a:txBody>
                    <a:bodyPr/>
                    <a:lstStyle/>
                    <a:p>
                      <a:pPr>
                        <a:defRPr sz="1100">
                          <a:solidFill>
                            <a:srgbClr val="FFFFFF"/>
                          </a:solidFill>
                        </a:defRPr>
                      </a:pPr>
                      <a:r>
                        <a:t>0.00 KB</a:t>
                      </a:r>
                    </a:p>
                  </a:txBody>
                  <a:tcPr>
                    <a:solidFill>
                      <a:srgbClr val="0B132B"/>
                    </a:solidFill>
                  </a:tcPr>
                </a:tc>
                <a:tc>
                  <a:txBody>
                    <a:bodyPr/>
                    <a:lstStyle/>
                    <a:p>
                      <a:pPr>
                        <a:defRPr sz="1100">
                          <a:solidFill>
                            <a:srgbClr val="10B981"/>
                          </a:solidFill>
                        </a:defRPr>
                      </a:pPr>
                      <a:r>
                        <a:t>100% Zero Mobile Data</a:t>
                      </a:r>
                    </a:p>
                  </a:txBody>
                  <a:tcPr>
                    <a:solidFill>
                      <a:srgbClr val="0B132B"/>
                    </a:solidFill>
                  </a:tcPr>
                </a:tc>
              </a:tr>
              <a:tr h="457200">
                <a:tc>
                  <a:txBody>
                    <a:bodyPr/>
                    <a:lstStyle/>
                    <a:p>
                      <a:pPr>
                        <a:defRPr sz="1100">
                          <a:solidFill>
                            <a:srgbClr val="FFFFFF"/>
                          </a:solidFill>
                        </a:defRPr>
                      </a:pPr>
                      <a:r>
                        <a:t>Client Render Frame Rate</a:t>
                      </a:r>
                    </a:p>
                  </a:txBody>
                  <a:tcPr>
                    <a:solidFill>
                      <a:srgbClr val="0B132B"/>
                    </a:solidFill>
                  </a:tcPr>
                </a:tc>
                <a:tc>
                  <a:txBody>
                    <a:bodyPr/>
                    <a:lstStyle/>
                    <a:p>
                      <a:pPr>
                        <a:defRPr sz="1100">
                          <a:solidFill>
                            <a:srgbClr val="FFFFFF"/>
                          </a:solidFill>
                        </a:defRPr>
                      </a:pPr>
                      <a:r>
                        <a:t>45 – 55 FPS (jitter)</a:t>
                      </a:r>
                    </a:p>
                  </a:txBody>
                  <a:tcPr>
                    <a:solidFill>
                      <a:srgbClr val="0B132B"/>
                    </a:solidFill>
                  </a:tcPr>
                </a:tc>
                <a:tc>
                  <a:txBody>
                    <a:bodyPr/>
                    <a:lstStyle/>
                    <a:p>
                      <a:pPr>
                        <a:defRPr sz="1100">
                          <a:solidFill>
                            <a:srgbClr val="FFFFFF"/>
                          </a:solidFill>
                        </a:defRPr>
                      </a:pPr>
                      <a:r>
                        <a:t>60 FPS locked</a:t>
                      </a:r>
                    </a:p>
                  </a:txBody>
                  <a:tcPr>
                    <a:solidFill>
                      <a:srgbClr val="0B132B"/>
                    </a:solidFill>
                  </a:tcPr>
                </a:tc>
                <a:tc>
                  <a:txBody>
                    <a:bodyPr/>
                    <a:lstStyle/>
                    <a:p>
                      <a:pPr>
                        <a:defRPr sz="1100">
                          <a:solidFill>
                            <a:srgbClr val="FFFFFF"/>
                          </a:solidFill>
                        </a:defRPr>
                      </a:pPr>
                      <a:r>
                        <a:t>60 FPS locked</a:t>
                      </a:r>
                    </a:p>
                  </a:txBody>
                  <a:tcPr>
                    <a:solidFill>
                      <a:srgbClr val="0B132B"/>
                    </a:solidFill>
                  </a:tcPr>
                </a:tc>
                <a:tc>
                  <a:txBody>
                    <a:bodyPr/>
                    <a:lstStyle/>
                    <a:p>
                      <a:pPr>
                        <a:defRPr sz="1100">
                          <a:solidFill>
                            <a:srgbClr val="10B981"/>
                          </a:solidFill>
                        </a:defRPr>
                      </a:pPr>
                      <a:r>
                        <a:t>Stable 60Hz V-Sync</a:t>
                      </a:r>
                    </a:p>
                  </a:txBody>
                  <a:tcPr>
                    <a:solidFill>
                      <a:srgbClr val="0B132B"/>
                    </a:solidFill>
                  </a:tcPr>
                </a:tc>
              </a:tr>
              <a:tr h="457200">
                <a:tc>
                  <a:txBody>
                    <a:bodyPr/>
                    <a:lstStyle/>
                    <a:p>
                      <a:pPr>
                        <a:defRPr sz="1100">
                          <a:solidFill>
                            <a:srgbClr val="FFFFFF"/>
                          </a:solidFill>
                        </a:defRPr>
                      </a:pPr>
                      <a:r>
                        <a:t>External Server Cost</a:t>
                      </a:r>
                    </a:p>
                  </a:txBody>
                  <a:tcPr>
                    <a:solidFill>
                      <a:srgbClr val="0B132B"/>
                    </a:solidFill>
                  </a:tcPr>
                </a:tc>
                <a:tc>
                  <a:txBody>
                    <a:bodyPr/>
                    <a:lstStyle/>
                    <a:p>
                      <a:pPr>
                        <a:defRPr sz="1100">
                          <a:solidFill>
                            <a:srgbClr val="FFFFFF"/>
                          </a:solidFill>
                        </a:defRPr>
                      </a:pPr>
                      <a:r>
                        <a:t>$40 – $300 / mo</a:t>
                      </a:r>
                    </a:p>
                  </a:txBody>
                  <a:tcPr>
                    <a:solidFill>
                      <a:srgbClr val="0B132B"/>
                    </a:solidFill>
                  </a:tcPr>
                </a:tc>
                <a:tc>
                  <a:txBody>
                    <a:bodyPr/>
                    <a:lstStyle/>
                    <a:p>
                      <a:pPr>
                        <a:defRPr sz="1100">
                          <a:solidFill>
                            <a:srgbClr val="FFFFFF"/>
                          </a:solidFill>
                        </a:defRPr>
                      </a:pPr>
                      <a:r>
                        <a:t>$0.00 (Self-hosted)</a:t>
                      </a:r>
                    </a:p>
                  </a:txBody>
                  <a:tcPr>
                    <a:solidFill>
                      <a:srgbClr val="0B132B"/>
                    </a:solidFill>
                  </a:tcPr>
                </a:tc>
                <a:tc>
                  <a:txBody>
                    <a:bodyPr/>
                    <a:lstStyle/>
                    <a:p>
                      <a:pPr>
                        <a:defRPr sz="1100">
                          <a:solidFill>
                            <a:srgbClr val="FFFFFF"/>
                          </a:solidFill>
                        </a:defRPr>
                      </a:pPr>
                      <a:r>
                        <a:t>$0.00 (Self-hosted)</a:t>
                      </a:r>
                    </a:p>
                  </a:txBody>
                  <a:tcPr>
                    <a:solidFill>
                      <a:srgbClr val="0B132B"/>
                    </a:solidFill>
                  </a:tcPr>
                </a:tc>
                <a:tc>
                  <a:txBody>
                    <a:bodyPr/>
                    <a:lstStyle/>
                    <a:p>
                      <a:pPr>
                        <a:defRPr sz="1100">
                          <a:solidFill>
                            <a:srgbClr val="10B981"/>
                          </a:solidFill>
                        </a:defRPr>
                      </a:pPr>
                      <a:r>
                        <a:t>$0 Infrastructure Cost</a:t>
                      </a:r>
                    </a:p>
                  </a:txBody>
                  <a:tcPr>
                    <a:solidFill>
                      <a:srgbClr val="0B132B"/>
                    </a:solidFill>
                  </a:tcPr>
                </a:tc>
              </a:tr>
            </a:tbl>
          </a:graphicData>
        </a:graphic>
      </p:graphicFrame>
      <p:sp>
        <p:nvSpPr>
          <p:cNvPr id="5" name="Rounded Rectangle 4"/>
          <p:cNvSpPr/>
          <p:nvPr/>
        </p:nvSpPr>
        <p:spPr>
          <a:xfrm>
            <a:off x="731520" y="4206240"/>
            <a:ext cx="5120640" cy="210312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defRPr sz="1600" b="1">
                <a:solidFill>
                  <a:srgbClr val="0EA5E9"/>
                </a:solidFill>
              </a:defRPr>
            </a:pPr>
            <a:r>
              <a:t>Stress Test &amp; Concurrency</a:t>
            </a:r>
          </a:p>
          <a:p>
            <a:pPr>
              <a:spcAft>
                <a:spcPts val="800"/>
              </a:spcAft>
            </a:pPr>
            <a:r>
              <a:rPr b="1" sz="1200">
                <a:solidFill>
                  <a:srgbClr val="F59E0B"/>
                </a:solidFill>
              </a:rPr>
              <a:t>Simultaneous Sockets: </a:t>
            </a:r>
            <a:r>
              <a:rPr sz="1200">
                <a:solidFill>
                  <a:srgbClr val="FFFFFF"/>
                </a:solidFill>
              </a:rPr>
              <a:t>Tested with 8 active concurrent players on a single low-spec Android hotspot with 0 packet drops.</a:t>
            </a:r>
          </a:p>
          <a:p>
            <a:pPr>
              <a:spcAft>
                <a:spcPts val="800"/>
              </a:spcAft>
            </a:pPr>
            <a:r>
              <a:rPr b="1" sz="1200">
                <a:solidFill>
                  <a:srgbClr val="F59E0B"/>
                </a:solidFill>
              </a:rPr>
              <a:t>Memory Footprint: </a:t>
            </a:r>
            <a:r>
              <a:rPr sz="1200">
                <a:solidFill>
                  <a:srgbClr val="FFFFFF"/>
                </a:solidFill>
              </a:rPr>
              <a:t>Mobile client maintains steady ~42 MB RAM footprint across 30+ minutes of continuous gameplay.</a:t>
            </a:r>
          </a:p>
        </p:txBody>
      </p:sp>
      <p:sp>
        <p:nvSpPr>
          <p:cNvPr id="6" name="Rounded Rectangle 5"/>
          <p:cNvSpPr/>
          <p:nvPr/>
        </p:nvSpPr>
        <p:spPr>
          <a:xfrm>
            <a:off x="6309360" y="4206240"/>
            <a:ext cx="5120640" cy="210312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defRPr sz="1600" b="1">
                <a:solidFill>
                  <a:srgbClr val="0EA5E9"/>
                </a:solidFill>
              </a:defRPr>
            </a:pPr>
            <a:r>
              <a:t>Battery &amp; Power Optimization</a:t>
            </a:r>
          </a:p>
          <a:p>
            <a:pPr>
              <a:spcAft>
                <a:spcPts val="800"/>
              </a:spcAft>
            </a:pPr>
            <a:r>
              <a:rPr b="1" sz="1200">
                <a:solidFill>
                  <a:srgbClr val="F59E0B"/>
                </a:solidFill>
              </a:rPr>
              <a:t>Cellular Radio Sleep: </a:t>
            </a:r>
            <a:r>
              <a:rPr sz="1200">
                <a:solidFill>
                  <a:srgbClr val="FFFFFF"/>
                </a:solidFill>
              </a:rPr>
              <a:t>Disabling cellular LTE/5G baseband communication yields ~38% battery savings compared to cloud titles.</a:t>
            </a:r>
          </a:p>
          <a:p>
            <a:pPr>
              <a:spcAft>
                <a:spcPts val="800"/>
              </a:spcAft>
            </a:pPr>
            <a:r>
              <a:rPr b="1" sz="1200">
                <a:solidFill>
                  <a:srgbClr val="F59E0B"/>
                </a:solidFill>
              </a:rPr>
              <a:t>Event-Driven Loop: </a:t>
            </a:r>
            <a:r>
              <a:rPr sz="1200">
                <a:solidFill>
                  <a:srgbClr val="FFFFFF"/>
                </a:solidFill>
              </a:rPr>
              <a:t>Turn-based titles pause canvas redraws when stationary, preserving CPU and GPU cycles.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0EA5E9"/>
                </a:solidFill>
              </a:defRPr>
            </a:pPr>
            <a:r>
              <a:t>8. TECHNICAL CHALLENGES</a:t>
            </a:r>
          </a:p>
          <a:p>
            <a:pPr>
              <a:spcAft>
                <a:spcPts val="300"/>
              </a:spcAft>
              <a:defRPr sz="2400" b="1">
                <a:solidFill>
                  <a:srgbClr val="FFFFFF"/>
                </a:solidFill>
              </a:defRPr>
            </a:pPr>
            <a:r>
              <a:t>Key Engineering Hurdles Overcome</a:t>
            </a:r>
          </a:p>
          <a:p>
            <a:pPr>
              <a:defRPr sz="1200">
                <a:solidFill>
                  <a:srgbClr val="B4C3D7"/>
                </a:solidFill>
              </a:defRPr>
            </a:pPr>
            <a:r>
              <a:t>Real-world development challenges solved during implementation</a:t>
            </a:r>
          </a:p>
        </p:txBody>
      </p:sp>
      <p:sp>
        <p:nvSpPr>
          <p:cNvPr id="4" name="Rounded Rectangle 3"/>
          <p:cNvSpPr/>
          <p:nvPr/>
        </p:nvSpPr>
        <p:spPr>
          <a:xfrm>
            <a:off x="731520" y="1645920"/>
            <a:ext cx="5120640" cy="45720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defRPr sz="1600" b="1">
                <a:solidFill>
                  <a:srgbClr val="0EA5E9"/>
                </a:solidFill>
              </a:defRPr>
            </a:pPr>
            <a:r>
              <a:t>Networking &amp; OS Hurdles</a:t>
            </a:r>
          </a:p>
          <a:p>
            <a:pPr>
              <a:spcAft>
                <a:spcPts val="800"/>
              </a:spcAft>
            </a:pPr>
            <a:r>
              <a:rPr b="1" sz="1200">
                <a:solidFill>
                  <a:srgbClr val="F59E0B"/>
                </a:solidFill>
              </a:rPr>
              <a:t>Subnet IP Discovery Without Internet: </a:t>
            </a:r>
            <a:r>
              <a:rPr sz="1200">
                <a:solidFill>
                  <a:srgbClr val="FFFFFF"/>
                </a:solidFill>
              </a:rPr>
              <a:t>Problem: Mobile phones cannot query external DNS or STUN servers offline.
Solution: Edge server detects primary network interface (e.g. 192.168.1.x) and renders direct QR codes containing IP + port + room code for camera auto-join.</a:t>
            </a:r>
          </a:p>
          <a:p>
            <a:pPr>
              <a:spcAft>
                <a:spcPts val="800"/>
              </a:spcAft>
            </a:pPr>
            <a:r>
              <a:rPr b="1" sz="1200">
                <a:solidFill>
                  <a:srgbClr val="F59E0B"/>
                </a:solidFill>
              </a:rPr>
              <a:t>Aggressive Mobile OS Socket Sleep: </a:t>
            </a:r>
            <a:r>
              <a:rPr sz="1200">
                <a:solidFill>
                  <a:srgbClr val="FFFFFF"/>
                </a:solidFill>
              </a:rPr>
              <a:t>Problem: Android battery management aggressively closes idle background WebSockets.
Solution: Implemented client-side 15-second heartbeat ping-pong intervals and automated reconnect back-off handlers.</a:t>
            </a:r>
          </a:p>
        </p:txBody>
      </p:sp>
      <p:sp>
        <p:nvSpPr>
          <p:cNvPr id="5" name="Rounded Rectangle 4"/>
          <p:cNvSpPr/>
          <p:nvPr/>
        </p:nvSpPr>
        <p:spPr>
          <a:xfrm>
            <a:off x="6309360" y="1645920"/>
            <a:ext cx="5120640" cy="45720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defRPr sz="1600" b="1">
                <a:solidFill>
                  <a:srgbClr val="0EA5E9"/>
                </a:solidFill>
              </a:defRPr>
            </a:pPr>
            <a:r>
              <a:t>Graphics &amp; Physics Hurdles</a:t>
            </a:r>
          </a:p>
          <a:p>
            <a:pPr>
              <a:spcAft>
                <a:spcPts val="800"/>
              </a:spcAft>
            </a:pPr>
            <a:r>
              <a:rPr b="1" sz="1200">
                <a:solidFill>
                  <a:srgbClr val="F59E0B"/>
                </a:solidFill>
              </a:rPr>
              <a:t>High-Speed Physics Tunneling in Carrom: </a:t>
            </a:r>
            <a:r>
              <a:rPr sz="1200">
                <a:solidFill>
                  <a:srgbClr val="FFFFFF"/>
                </a:solidFill>
              </a:rPr>
              <a:t>Problem: Striker coins traveling at 700 px/s jumped across borders between 60Hz frames.
Solution: Developed a 300 FPS sub-stepped Eulerian physics loop running 5 calculation passes per frame.</a:t>
            </a:r>
          </a:p>
          <a:p>
            <a:pPr>
              <a:spcAft>
                <a:spcPts val="800"/>
              </a:spcAft>
            </a:pPr>
            <a:r>
              <a:rPr b="1" sz="1200">
                <a:solidFill>
                  <a:srgbClr val="F59E0B"/>
                </a:solidFill>
              </a:rPr>
              <a:t>Multi-Byte Unicode SVG Parser Failures: </a:t>
            </a:r>
            <a:r>
              <a:rPr sz="1200">
                <a:solidFill>
                  <a:srgbClr val="FFFFFF"/>
                </a:solidFill>
              </a:rPr>
              <a:t>Problem: Android WebViews failed to render base64 SVGs containing 4-byte unicode emojis.
Solution: Converted all emojis into scalable mathematical vector paths with explicit UTF-8 XML declarations.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1100" b="1">
                <a:solidFill>
                  <a:srgbClr val="0EA5E9"/>
                </a:solidFill>
              </a:defRPr>
            </a:pPr>
            <a:r>
              <a:t>9. CONCLUSION &amp; VIVA DEFENSE</a:t>
            </a:r>
          </a:p>
          <a:p>
            <a:pPr>
              <a:spcAft>
                <a:spcPts val="300"/>
              </a:spcAft>
              <a:defRPr sz="2400" b="1">
                <a:solidFill>
                  <a:srgbClr val="FFFFFF"/>
                </a:solidFill>
              </a:defRPr>
            </a:pPr>
            <a:r>
              <a:t>Summary of Contributions &amp; Future Scope</a:t>
            </a:r>
          </a:p>
          <a:p>
            <a:pPr>
              <a:defRPr sz="1200">
                <a:solidFill>
                  <a:srgbClr val="B4C3D7"/>
                </a:solidFill>
              </a:defRPr>
            </a:pPr>
            <a:r>
              <a:t>System recap, future enhancements, and defense preparation</a:t>
            </a:r>
          </a:p>
        </p:txBody>
      </p:sp>
      <p:sp>
        <p:nvSpPr>
          <p:cNvPr id="4" name="Rounded Rectangle 3"/>
          <p:cNvSpPr/>
          <p:nvPr/>
        </p:nvSpPr>
        <p:spPr>
          <a:xfrm>
            <a:off x="731520" y="1645920"/>
            <a:ext cx="5120640" cy="45720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defRPr sz="1600" b="1">
                <a:solidFill>
                  <a:srgbClr val="0EA5E9"/>
                </a:solidFill>
              </a:defRPr>
            </a:pPr>
            <a:r>
              <a:t>Project Deliverables &amp; Summary</a:t>
            </a:r>
          </a:p>
          <a:p>
            <a:pPr>
              <a:spcAft>
                <a:spcPts val="800"/>
              </a:spcAft>
            </a:pPr>
            <a:r>
              <a:rPr b="1" sz="1200">
                <a:solidFill>
                  <a:srgbClr val="F59E0B"/>
                </a:solidFill>
              </a:rPr>
              <a:t>Complete Offline Ecosystem: </a:t>
            </a:r>
            <a:r>
              <a:rPr sz="1200">
                <a:solidFill>
                  <a:srgbClr val="FFFFFF"/>
                </a:solidFill>
              </a:rPr>
              <a:t>Demonstrated a robust, production-grade 9-game multiplayer platform operating with zero mobile data.</a:t>
            </a:r>
          </a:p>
          <a:p>
            <a:pPr>
              <a:spcAft>
                <a:spcPts val="800"/>
              </a:spcAft>
            </a:pPr>
            <a:r>
              <a:rPr b="1" sz="1200">
                <a:solidFill>
                  <a:srgbClr val="F59E0B"/>
                </a:solidFill>
              </a:rPr>
              <a:t>Sub-5ms Real-Time Sync: </a:t>
            </a:r>
            <a:r>
              <a:rPr sz="1200">
                <a:solidFill>
                  <a:srgbClr val="FFFFFF"/>
                </a:solidFill>
              </a:rPr>
              <a:t>Empirically validated peer-to-peer WebSocket state synchronization with deterministic conflict resolution.</a:t>
            </a:r>
          </a:p>
          <a:p>
            <a:pPr>
              <a:spcAft>
                <a:spcPts val="800"/>
              </a:spcAft>
            </a:pPr>
            <a:r>
              <a:rPr b="1" sz="1200">
                <a:solidFill>
                  <a:srgbClr val="F59E0B"/>
                </a:solidFill>
              </a:rPr>
              <a:t>Production React Native App: </a:t>
            </a:r>
            <a:r>
              <a:rPr sz="1200">
                <a:solidFill>
                  <a:srgbClr val="FFFFFF"/>
                </a:solidFill>
              </a:rPr>
              <a:t>Shipped a clean, modular mobile app architecture compatible with Expo Go and standalone Android devices.</a:t>
            </a:r>
          </a:p>
          <a:p>
            <a:pPr>
              <a:spcAft>
                <a:spcPts val="800"/>
              </a:spcAft>
            </a:pPr>
            <a:r>
              <a:rPr b="1" sz="1200">
                <a:solidFill>
                  <a:srgbClr val="F59E0B"/>
                </a:solidFill>
              </a:rPr>
              <a:t>High-Performance Engineering: </a:t>
            </a:r>
            <a:r>
              <a:rPr sz="1200">
                <a:solidFill>
                  <a:srgbClr val="FFFFFF"/>
                </a:solidFill>
              </a:rPr>
              <a:t>Implemented custom physics engines (300 FPS), Minimax AI algorithms, and High-DPI canvas graphics.</a:t>
            </a:r>
          </a:p>
        </p:txBody>
      </p:sp>
      <p:sp>
        <p:nvSpPr>
          <p:cNvPr id="5" name="Rounded Rectangle 4"/>
          <p:cNvSpPr/>
          <p:nvPr/>
        </p:nvSpPr>
        <p:spPr>
          <a:xfrm>
            <a:off x="6309360" y="1645920"/>
            <a:ext cx="5120640" cy="45720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1000"/>
              </a:spcAft>
              <a:defRPr sz="1600" b="1">
                <a:solidFill>
                  <a:srgbClr val="0EA5E9"/>
                </a:solidFill>
              </a:defRPr>
            </a:pPr>
            <a:r>
              <a:t>Future Scope &amp; Q&amp;A Readiness</a:t>
            </a:r>
          </a:p>
          <a:p>
            <a:pPr>
              <a:spcAft>
                <a:spcPts val="800"/>
              </a:spcAft>
            </a:pPr>
            <a:r>
              <a:rPr b="1" sz="1200">
                <a:solidFill>
                  <a:srgbClr val="F59E0B"/>
                </a:solidFill>
              </a:rPr>
              <a:t>Wi-Fi Direct P2P Mesh: </a:t>
            </a:r>
            <a:r>
              <a:rPr sz="1200">
                <a:solidFill>
                  <a:srgbClr val="FFFFFF"/>
                </a:solidFill>
              </a:rPr>
              <a:t>Integrating Wi-Fi Direct (P2P Service Discovery) to eliminate the need for a host hotspot entirely.</a:t>
            </a:r>
          </a:p>
          <a:p>
            <a:pPr>
              <a:spcAft>
                <a:spcPts val="800"/>
              </a:spcAft>
            </a:pPr>
            <a:r>
              <a:rPr b="1" sz="1200">
                <a:solidFill>
                  <a:srgbClr val="F59E0B"/>
                </a:solidFill>
              </a:rPr>
              <a:t>WebRTC DataChannels over LAN: </a:t>
            </a:r>
            <a:r>
              <a:rPr sz="1200">
                <a:solidFill>
                  <a:srgbClr val="FFFFFF"/>
                </a:solidFill>
              </a:rPr>
              <a:t>Evaluating local-only WebRTC data channels for direct UDP datagram synchronization.</a:t>
            </a:r>
          </a:p>
          <a:p>
            <a:pPr>
              <a:spcAft>
                <a:spcPts val="800"/>
              </a:spcAft>
            </a:pPr>
            <a:r>
              <a:rPr b="1" sz="1200">
                <a:solidFill>
                  <a:srgbClr val="F59E0B"/>
                </a:solidFill>
              </a:rPr>
              <a:t>Audio Chat over WebRTC: </a:t>
            </a:r>
            <a:r>
              <a:rPr sz="1200">
                <a:solidFill>
                  <a:srgbClr val="FFFFFF"/>
                </a:solidFill>
              </a:rPr>
              <a:t>Adding local low-latency voice chat over ad-hoc Wi-Fi for team tactical coordination.</a:t>
            </a:r>
          </a:p>
          <a:p>
            <a:pPr>
              <a:spcAft>
                <a:spcPts val="800"/>
              </a:spcAft>
            </a:pPr>
            <a:r>
              <a:rPr b="1" sz="1200">
                <a:solidFill>
                  <a:srgbClr val="F59E0B"/>
                </a:solidFill>
              </a:rPr>
              <a:t>Examiner Q&amp;A Defense: </a:t>
            </a:r>
            <a:r>
              <a:rPr sz="1200">
                <a:solidFill>
                  <a:srgbClr val="FFFFFF"/>
                </a:solidFill>
              </a:rPr>
              <a:t>We welcome questions regarding network protocols, state synchronization, AI pruning, or physics modeling.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